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9611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Aula 03 — Estruturação Analítica e Protocolos de Transmissão da Rede Global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3447852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jornada pelo coração da web: como os dados trafegam, como os sistemas se comunicam e como arquiteturas modernas transformaram a forma como construímos aplicações. Nesta aula, dissecamos o modelo cliente-servidor, o protocolo HTTP/HTTPS e a evolução para microsserviços, culminando na prática com Flask em Python.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956969"/>
            <a:ext cx="1018455" cy="251420"/>
          </a:xfrm>
          <a:prstGeom prst="roundRect">
            <a:avLst>
              <a:gd name="adj" fmla="val 7894"/>
            </a:avLst>
          </a:prstGeom>
          <a:solidFill>
            <a:srgbClr val="D7DFF4"/>
          </a:solidFill>
          <a:ln/>
        </p:spPr>
      </p:sp>
      <p:sp>
        <p:nvSpPr>
          <p:cNvPr id="7" name="Text 4"/>
          <p:cNvSpPr/>
          <p:nvPr/>
        </p:nvSpPr>
        <p:spPr>
          <a:xfrm>
            <a:off x="5332577" y="5006578"/>
            <a:ext cx="142960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REDES &amp; WEB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34463" y="4956969"/>
            <a:ext cx="709595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3679" y="5006578"/>
            <a:ext cx="112074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AULA 03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26705" y="4956969"/>
            <a:ext cx="155958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5921" y="5006578"/>
            <a:ext cx="197073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+DESAFIO TÉCNICO 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768932" y="4956969"/>
            <a:ext cx="1533784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8148" y="5006578"/>
            <a:ext cx="19449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PROF. CLOVES ROCHA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76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Vamos Estudar Hoje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5418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aula cobre os fundamentos arquiteturais e de protocolo que sustentam toda a web moderna. Cada tópico se conecta ao próximo, formando uma visão completa do ciclo de vida de uma requisição web — da arquitetura ao código em execução.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46945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731393"/>
            <a:ext cx="535172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85214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1.1.1 — Modelo Cliente-Servidor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209826"/>
            <a:ext cx="535172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a arquitetura fundamental da web, os papéis de cliente e servidor, e o ciclo completo de requisição e resposta que ocorre a cada interação.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8495" y="246945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747863"/>
            <a:ext cx="535172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0" name="Text 8"/>
          <p:cNvSpPr/>
          <p:nvPr/>
        </p:nvSpPr>
        <p:spPr>
          <a:xfrm>
            <a:off x="6178495" y="285214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1.1.2 — Protocolo HTTP/HTTPS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8495" y="3209826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Dissecar a estrutura das mensagens HTTP, os cabeçalhos, os métodos, os códigos de status e a camada de segurança TLS/SSL do HTTPS.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538365"/>
            <a:ext cx="535172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67568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1.1.3 — De Monolito a Microsserviços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5033367"/>
            <a:ext cx="535172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Compreender a evolução histórica das arquiteturas de software, os trade-offs de cada abordagem e por que os microsserviços dominam o cenário atual.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849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4538365"/>
            <a:ext cx="535172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8495" y="4675684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Flask + Desafio Técnico 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5033367"/>
            <a:ext cx="535172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Apresentação do ambiente de execução Python com Flask, o miniframework que dará vida prática aos conceitos teóricos, e detalhamento do Desafio 02.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28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1.1.1 — O Modelo Arquitetural Cliente-Servidor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20304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modelo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cliente-servidor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a espinha dorsal de toda a web. Nele, dois atores principais se comunicam de forma assimétrica: 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cliente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inicia a comunicação solicitando recursos, e 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servidor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responde fornecendo esses recursos ou executando ações. Essa separação de responsabilidades é intencional e permite escalabilidade, segurança e manutenção independentes.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00188"/>
            <a:ext cx="3512653" cy="4084935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2465487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Cliente (Client)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2829520"/>
            <a:ext cx="3182064" cy="1858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Qualquer software que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inicia requisições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navegadores (Chrome, Firefox), aplicativos móveis, scripts Python, ferramentas como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 Postman. O cliente conhece o endereço do servidor (URL), mas não precisa saber como o servidor processa internamente a solicitação.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6769" y="4787404"/>
            <a:ext cx="3182064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Formata e envia requisições HTTP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 e exibe respostas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Gerencia estado local (cookies, cache)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2300188"/>
            <a:ext cx="3512752" cy="4084935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</p:sp>
      <p:sp>
        <p:nvSpPr>
          <p:cNvPr id="9" name="Text 7"/>
          <p:cNvSpPr/>
          <p:nvPr/>
        </p:nvSpPr>
        <p:spPr>
          <a:xfrm>
            <a:off x="4504716" y="2465487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🖳 Servidor (Server)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4716" y="2823170"/>
            <a:ext cx="31821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que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escuta em uma porta de rede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recebe requisições, processa a lógica de negócio e retorna respostas. Exemplos: Apache, Nginx, Flask, Django, Node.js. Um servidor pode atender milhares de clientes simultaneamente.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4716" y="4510088"/>
            <a:ext cx="3182163" cy="143877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Escuta em portas TCP (80, 443, etc.)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Processa lógica e acessa bancos de dados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Retorna respostas estruturadas (HTML, JSON)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2300188"/>
            <a:ext cx="3512653" cy="4084935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8182762" y="2465487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Protocolo de Comunicação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2829520"/>
            <a:ext cx="3182064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HTTP/HTTPS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o contrato que define como cliente e servidor trocam mensagens. Ele especifica o formato das requisições, das respostas, os cabeçalhos, os métodos permitidos e os códigos de status que indicam o resultado de cada operação.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2762" y="4781054"/>
            <a:ext cx="3182064" cy="143877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Baseado em TCP/IP (camada de transporte)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Stateless por natureza (sem estado)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Extensível via cabeçalhos personalizados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695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Ciclo de Requisição e Resposta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32061"/>
            <a:ext cx="10868745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interação na web segue um ciclo bem definido. Do momento em que você digita uma URL até a página ser renderizada, dezenas de etapas ocorrem em milissegundos. Compreender esse ciclo é essencial para diagnosticar problemas, otimizar desempenho e projetar APIs robustas.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248073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08475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Resposta HTTP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08475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Processamento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08475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Requisição HTTP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237594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Conexão TCP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084750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Resolução DNS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261570"/>
            <a:ext cx="11478330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diagrama acima ilustra as cinco etapas fundamentais do ciclo HTTP: desde a resolução do nome de domínio até a entrega da resposta ao cliente. Cada etapa pode ser um gargalo de desempenho ou um ponto de falha que precisa ser monitorado.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90734" y="5452368"/>
            <a:ext cx="5456101" cy="896838"/>
          </a:xfrm>
          <a:prstGeom prst="roundRect">
            <a:avLst>
              <a:gd name="adj" fmla="val 1642"/>
            </a:avLst>
          </a:prstGeom>
          <a:solidFill>
            <a:srgbClr val="3257B8"/>
          </a:solidFill>
          <a:ln/>
        </p:spPr>
      </p:sp>
      <p:sp>
        <p:nvSpPr>
          <p:cNvPr id="12" name="Text 9"/>
          <p:cNvSpPr/>
          <p:nvPr/>
        </p:nvSpPr>
        <p:spPr>
          <a:xfrm>
            <a:off x="688859" y="5510609"/>
            <a:ext cx="525985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Anatomia de uma Requisição HTTP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8859" y="5722243"/>
            <a:ext cx="5869436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requisição HTTP é composta por três partes: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88859" y="5899845"/>
            <a:ext cx="5259851" cy="429022"/>
          </a:xfrm>
          <a:prstGeom prst="rect">
            <a:avLst/>
          </a:prstGeom>
          <a:noFill/>
          <a:ln/>
        </p:spPr>
        <p:txBody>
          <a:bodyPr wrap="square" lIns="0" tIns="39280" rIns="0" bIns="0" rtlCol="0" anchor="t">
            <a:normAutofit/>
          </a:bodyPr>
          <a:lstStyle/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Linha de requisição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método + URI + versão (ex: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 HTTP/1.1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Cabeçalhos (Headers)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metadados como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Corpo (Body)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dados enviados (principalmente em POST/PUT), como JSON ou formulários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21951" y="5510609"/>
            <a:ext cx="5314619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Anatomia de uma Resposta HTTP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21951" y="5722243"/>
            <a:ext cx="5924203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resposta do servidor também possui três partes: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221951" y="5899845"/>
            <a:ext cx="5314619" cy="429022"/>
          </a:xfrm>
          <a:prstGeom prst="rect">
            <a:avLst/>
          </a:prstGeom>
          <a:noFill/>
          <a:ln/>
        </p:spPr>
        <p:txBody>
          <a:bodyPr wrap="square" lIns="0" tIns="39280" rIns="0" bIns="0" rtlCol="0" anchor="t">
            <a:normAutofit/>
          </a:bodyPr>
          <a:lstStyle/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Linha de status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versão + código + descrição (ex: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Cabeçalhos (Headers)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metadados como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</a:t>
            </a:r>
            <a:endParaRPr lang="en-US" sz="750" dirty="0"/>
          </a:p>
          <a:p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Corpo (Body)</a:t>
            </a:r>
            <a:pPr algn="l" marL="152400" indent="-152400">
              <a:lnSpc>
                <a:spcPct val="106000"/>
              </a:lnSpc>
              <a:buSzPct val="100000"/>
              <a:buChar char="•"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 conteúdo real — HTML, JSON, imagem, etc.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6923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1.1.2 — Dissecando o Protocolo HTTP/HTTPS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24459"/>
            <a:ext cx="10868745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 (HyperText Transfer Protocol)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o protocolo de aplicação que define como mensagens são formatadas e transmitidas na web. O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HTTPS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a versão segura, que adiciona uma camada de criptografia TLS/SSL sobre o HTTP. A versão mais utilizada atualmente é o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HTTP/1.1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embora o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HTTP/2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o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HTTP/3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já estejam em ampla adoção.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85876"/>
            <a:ext cx="3529222" cy="430510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1739" y="2219226"/>
            <a:ext cx="228693" cy="2286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921" y="2702818"/>
            <a:ext cx="31863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Métodos HTTP (Verbos)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32921" y="3025378"/>
            <a:ext cx="318633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Definem a </a:t>
            </a:r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ação</a:t>
            </a:r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o cliente deseja realizar sobre o recurso: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32921" y="3578622"/>
            <a:ext cx="3186330" cy="2393752"/>
          </a:xfrm>
          <a:prstGeom prst="rect">
            <a:avLst/>
          </a:prstGeom>
          <a:noFill/>
          <a:ln/>
        </p:spPr>
        <p:txBody>
          <a:bodyPr wrap="square" lIns="0" tIns="60988" rIns="0" bIns="0" rtlCol="0" anchor="t">
            <a:normAutofit/>
          </a:bodyPr>
          <a:lstStyle/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Recupera dados (idempotente, seguro)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Cria um novo recurso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Atualiza um recurso existente (completo)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Atualização parcial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Remove um recurso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Consulta capacidades do servidor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1187" y="2085876"/>
            <a:ext cx="3529222" cy="430510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1451" y="2219226"/>
            <a:ext cx="228693" cy="2286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02633" y="2702818"/>
            <a:ext cx="31863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Cabeçalhos (Headers) Essenciais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502633" y="3025378"/>
            <a:ext cx="318633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Metadados que acompanham toda requisição e resposta: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02633" y="3578622"/>
            <a:ext cx="3186330" cy="2640905"/>
          </a:xfrm>
          <a:prstGeom prst="rect">
            <a:avLst/>
          </a:prstGeom>
          <a:noFill/>
          <a:ln/>
        </p:spPr>
        <p:txBody>
          <a:bodyPr wrap="square" lIns="0" tIns="60988" rIns="0" bIns="0" rtlCol="0" anchor="t">
            <a:normAutofit/>
          </a:bodyPr>
          <a:lstStyle/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Domínio do servidor (obrigatório em HTTP/1.1)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Formato dos dados (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text/html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Token de autenticação (ex: 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Bearer xyz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Identificação do cliente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Formatos que o cliente aceita receber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Diretivas de cache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0899" y="2085876"/>
            <a:ext cx="3529321" cy="430510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51163" y="2219226"/>
            <a:ext cx="228693" cy="22869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72345" y="2702818"/>
            <a:ext cx="31864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HTTPS e a Camada TLS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8172345" y="3025378"/>
            <a:ext cx="318643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HTTPS adiciona criptografia, autenticação e integridade: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172345" y="3578622"/>
            <a:ext cx="3186430" cy="1788517"/>
          </a:xfrm>
          <a:prstGeom prst="rect">
            <a:avLst/>
          </a:prstGeom>
          <a:noFill/>
          <a:ln/>
        </p:spPr>
        <p:txBody>
          <a:bodyPr wrap="square" lIns="0" tIns="60988" rIns="0" bIns="0" rtlCol="0" anchor="t">
            <a:normAutofit/>
          </a:bodyPr>
          <a:lstStyle/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Criptografia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os dados trafegam criptografados, impedindo espionagem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Autenticação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certificados digitais (X.509) validam a identidade do servidor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Integridade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hashes garantem que os dados não foram alterados em trânsito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Porta padrão: 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443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(vs. 80 do HTTP)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355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Códigos de Status HTTP — O Vocabulário das Respostas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26530"/>
            <a:ext cx="10868745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códigos de status HTTP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são números de três dígitos que indicam o resultado de uma requisição. Eles são agrupados em cinco classes, cada uma com um significado específico. Conhecer esses códigos é fundamental para depurar APIs, entender erros e projetar sistemas resilientes.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638895"/>
            <a:ext cx="3550156" cy="2385913"/>
          </a:xfrm>
          <a:prstGeom prst="roundRect">
            <a:avLst>
              <a:gd name="adj" fmla="val 845"/>
            </a:avLst>
          </a:prstGeom>
          <a:solidFill>
            <a:srgbClr val="E9ECF2"/>
          </a:solidFill>
          <a:ln/>
        </p:spPr>
      </p:sp>
      <p:sp>
        <p:nvSpPr>
          <p:cNvPr id="5" name="Shape 3"/>
          <p:cNvSpPr/>
          <p:nvPr/>
        </p:nvSpPr>
        <p:spPr>
          <a:xfrm>
            <a:off x="795814" y="1773238"/>
            <a:ext cx="403116" cy="40312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6638" y="1884065"/>
            <a:ext cx="181367" cy="1813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814" y="2285504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1xx — Informativo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814" y="2560935"/>
            <a:ext cx="3281479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requisição foi recebida e o processo continua. Raramente visto por clientes comuns.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814" y="3015952"/>
            <a:ext cx="3281479" cy="635198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 Continue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Prosseguir com o envio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101 Switching Protocols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Troca de protocolo (ex: WebSocket)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0769" y="1638895"/>
            <a:ext cx="3550156" cy="2385913"/>
          </a:xfrm>
          <a:prstGeom prst="roundRect">
            <a:avLst>
              <a:gd name="adj" fmla="val 845"/>
            </a:avLst>
          </a:prstGeom>
          <a:solidFill>
            <a:srgbClr val="E9ECF2"/>
          </a:solidFill>
          <a:ln/>
        </p:spPr>
      </p:sp>
      <p:sp>
        <p:nvSpPr>
          <p:cNvPr id="11" name="Shape 8"/>
          <p:cNvSpPr/>
          <p:nvPr/>
        </p:nvSpPr>
        <p:spPr>
          <a:xfrm>
            <a:off x="4455108" y="1773238"/>
            <a:ext cx="403116" cy="40312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5933" y="1884065"/>
            <a:ext cx="181367" cy="1813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5108" y="2285504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2xx — Sucesso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55108" y="2560935"/>
            <a:ext cx="3281479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requisição foi recebida, compreendida e processada com sucesso.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55108" y="3015952"/>
            <a:ext cx="3281479" cy="874514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Sucesso genérico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Recurso criado com sucesso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Sucesso, sem corpo na resposta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80064" y="1638895"/>
            <a:ext cx="3550156" cy="2385913"/>
          </a:xfrm>
          <a:prstGeom prst="roundRect">
            <a:avLst>
              <a:gd name="adj" fmla="val 845"/>
            </a:avLst>
          </a:prstGeom>
          <a:solidFill>
            <a:srgbClr val="E9ECF2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4402" y="1773238"/>
            <a:ext cx="403116" cy="40312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5227" y="1884065"/>
            <a:ext cx="181367" cy="1813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14402" y="2285504"/>
            <a:ext cx="328147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3xx — Redirecionamento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14402" y="2560935"/>
            <a:ext cx="3281479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Ações adicionais são necessárias para completar a requisição.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114402" y="3015952"/>
            <a:ext cx="3281479" cy="874514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 Permanently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Redirecionamento permanente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302 Found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Redirecionamento temporário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304 Not Modified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Usar versão em cache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61475" y="4133949"/>
            <a:ext cx="5379804" cy="2235696"/>
          </a:xfrm>
          <a:prstGeom prst="roundRect">
            <a:avLst>
              <a:gd name="adj" fmla="val 902"/>
            </a:avLst>
          </a:prstGeom>
          <a:solidFill>
            <a:srgbClr val="E9ECF2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814" y="4268291"/>
            <a:ext cx="403116" cy="40312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638" y="4379119"/>
            <a:ext cx="181367" cy="1813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95814" y="4780558"/>
            <a:ext cx="5111126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4xx — Erro do Cliente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95814" y="5055989"/>
            <a:ext cx="511112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cliente cometeu um erro — a requisição está mal formada ou não autorizada.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95814" y="5316240"/>
            <a:ext cx="5111126" cy="919063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Sintaxe inválida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Autenticação necessária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403 Forbidden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Acesso negado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Recurso não encontrado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150416" y="4133949"/>
            <a:ext cx="5379804" cy="2235696"/>
          </a:xfrm>
          <a:prstGeom prst="roundRect">
            <a:avLst>
              <a:gd name="adj" fmla="val 902"/>
            </a:avLst>
          </a:prstGeom>
          <a:solidFill>
            <a:srgbClr val="E9ECF2"/>
          </a:solidFill>
          <a:ln/>
        </p:spPr>
      </p:sp>
      <p:sp>
        <p:nvSpPr>
          <p:cNvPr id="29" name="Shape 23"/>
          <p:cNvSpPr/>
          <p:nvPr/>
        </p:nvSpPr>
        <p:spPr>
          <a:xfrm>
            <a:off x="6284755" y="4268291"/>
            <a:ext cx="403116" cy="40312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95580" y="4379119"/>
            <a:ext cx="181367" cy="1813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84755" y="4780558"/>
            <a:ext cx="5111126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5xx — Erro do Servidor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284755" y="5055989"/>
            <a:ext cx="5111126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servidor falhou ao processar uma requisição válida.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284755" y="5316240"/>
            <a:ext cx="5111126" cy="679748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Server Error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Erro genérico do servidor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502 Bad Gateway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Resposta inválida do upstream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503 Service Unavailable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Serviço temporariamente indisponível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970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1.1.3 — A Evolução das Arquiteturas: Do Monolito aos Microsserviços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082873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forma como organizamos sistemas de software evoluiu drasticamente nas últimas décadas. Cada paradigma arquitetural surgiu como resposta às limitações do anterior, impulsionado pelo crescimento da escala, da complexidade e das demandas de negócio. Entender essa evolução é crucial para tomar decisões arquiteturais informadas.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86323" y="1579761"/>
            <a:ext cx="19050" cy="3146425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5571291" y="1718469"/>
            <a:ext cx="395377" cy="1905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5947618" y="1579761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5997028" y="1604466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1475" y="1625005"/>
            <a:ext cx="477547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Anos 1990–2000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1893888"/>
            <a:ext cx="4775477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Arquitetura Monolítica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a aplicação em um único bloco implantável. Simples de desenvolver e testar, mas difícil de escalar e manter conforme o sistema cresce. Uma falha pode derrubar tudo.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25027" y="2455664"/>
            <a:ext cx="395377" cy="1905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618" y="2316956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5997028" y="2341662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754743" y="2362200"/>
            <a:ext cx="477547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Anos 2000–2010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54743" y="2631083"/>
            <a:ext cx="4775477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Arquitetura em Camadas (N-Tier)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Separação em camadas: apresentação, negócio e dados. Melhora a organização, mas ainda é implantada como unidades grandes. SOA (Service-Oriented Architecture) surge como intermediário.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1291" y="3110409"/>
            <a:ext cx="395377" cy="1905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618" y="2971701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5997028" y="2996406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1475" y="3016945"/>
            <a:ext cx="477547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2010–2015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3285827"/>
            <a:ext cx="4775477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 e Virtualização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nuvem (AWS, Azure, GCP) permite escalar infraestrutura sob demanda. Containers (Docker, 2013) facilitam o empacotamento e a portabilidade de serviços.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25027" y="3765252"/>
            <a:ext cx="395377" cy="19050"/>
          </a:xfrm>
          <a:prstGeom prst="roundRect">
            <a:avLst>
              <a:gd name="adj" fmla="val 49999"/>
            </a:avLst>
          </a:prstGeom>
          <a:solidFill>
            <a:srgbClr val="CFD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618" y="3626545"/>
            <a:ext cx="296458" cy="29646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97028" y="3651250"/>
            <a:ext cx="197639" cy="247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754743" y="3671788"/>
            <a:ext cx="477547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2015–Presente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54743" y="3940671"/>
            <a:ext cx="4775477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Microsserviços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decompostos em serviços independentes, cada um com responsabilidade única, banco de dados próprio e ciclo de vida independente. Kubernetes orquestra a implantação e o escalonamento.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624" y="4844256"/>
            <a:ext cx="5463344" cy="1552773"/>
          </a:xfrm>
          <a:prstGeom prst="roundRect">
            <a:avLst>
              <a:gd name="adj" fmla="val 1273"/>
            </a:avLst>
          </a:prstGeom>
          <a:solidFill>
            <a:srgbClr val="3257B8"/>
          </a:solidFill>
          <a:ln/>
        </p:spPr>
      </p:sp>
      <p:sp>
        <p:nvSpPr>
          <p:cNvPr id="26" name="Text 24"/>
          <p:cNvSpPr/>
          <p:nvPr/>
        </p:nvSpPr>
        <p:spPr>
          <a:xfrm>
            <a:off x="698383" y="4949230"/>
            <a:ext cx="5199825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Vantagens dos Microsserviços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8383" y="5266432"/>
            <a:ext cx="5199825" cy="1093887"/>
          </a:xfrm>
          <a:prstGeom prst="rect">
            <a:avLst/>
          </a:prstGeom>
          <a:noFill/>
          <a:ln/>
        </p:spPr>
        <p:txBody>
          <a:bodyPr wrap="square" lIns="0" tIns="52718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Escalabilidade independente por serviço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Implantações isoladas e frequentes (CI/CD)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Falhas contidas (resiliência)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Times autônomos por domínio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Poli-glota: cada serviço na tecnologia ideal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2928" y="4949230"/>
            <a:ext cx="5273642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Desafios dos Microsserviços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62928" y="5266432"/>
            <a:ext cx="5273642" cy="1093887"/>
          </a:xfrm>
          <a:prstGeom prst="rect">
            <a:avLst/>
          </a:prstGeom>
          <a:noFill/>
          <a:ln/>
        </p:spPr>
        <p:txBody>
          <a:bodyPr wrap="square" lIns="0" tIns="52718" rIns="0" bIns="0" rtlCol="0" anchor="t">
            <a:normAutofit/>
          </a:bodyPr>
          <a:lstStyle/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Complexidade operacional elevada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Comunicação entre serviços (latência, falhas)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Consistência de dados distribuídos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Monitoramento e rastreamento distribuído</a:t>
            </a:r>
            <a:endParaRPr lang="en-US" sz="1000" dirty="0"/>
          </a:p>
          <a:p>
            <a:pPr algn="l" marL="203200" indent="-2032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 de infraestrutura maior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191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Flask Python — O Miniframework que Dá Vida à Teoria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02246"/>
            <a:ext cx="10868745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Flask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um microframework web para Python, criado por Armin Ronacher em 2010. Ele é chamado de "micro" porque mantém o núcleo simples e extensível — sem ORM embutido, sem validação de formulários, sem autenticação. Você escolhe as extensões que precisa. É a ferramenta ideal para aprender HTTP na prática e construir APIs RESTful com clareza.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09998"/>
            <a:ext cx="3522773" cy="41388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278" y="2386608"/>
            <a:ext cx="309336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 que Flask para Aprender?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4278" y="2722959"/>
            <a:ext cx="3093365" cy="147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expõe os conceitos HTTP de forma transparente. Ao criar uma rota, você está definindo explicitamente qual método HTTP ela aceita, quais cabeçalhos retorna e qual código de status enviar. Não há magia oculta — o que você vê é o que acontece.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278" y="4290616"/>
            <a:ext cx="3093365" cy="1881584"/>
          </a:xfrm>
          <a:prstGeom prst="rect">
            <a:avLst/>
          </a:prstGeom>
          <a:noFill/>
          <a:ln/>
        </p:spPr>
        <p:txBody>
          <a:bodyPr wrap="square" lIns="0" tIns="63055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Curva de aprendizado suave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Documentação excelente e comunidade ativa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Extensível via Flask-RESTful, Flask-SQLAlchemy, etc.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Amplamente usado em produção (Pinterest, LinkedIn usaram Flask)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461" y="2209998"/>
            <a:ext cx="3522773" cy="41388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7264" y="2386608"/>
            <a:ext cx="309336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Estrutura de um Projeto Flask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87264" y="2722959"/>
            <a:ext cx="309336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projeto Flask típico organiza-se em módulos claros: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87264" y="3305572"/>
            <a:ext cx="3093365" cy="2814439"/>
          </a:xfrm>
          <a:prstGeom prst="rect">
            <a:avLst/>
          </a:prstGeom>
          <a:noFill/>
          <a:ln/>
        </p:spPr>
        <p:txBody>
          <a:bodyPr wrap="square" lIns="0" tIns="63055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ponto de entrada, cria a instância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Flask(__name__)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definição das rotas e handlers HTTP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modelos de dados (opcional, com SQLAlchemy)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arquivos HTML (Jinja2)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CSS, JS e imagens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dependências do projeto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7447" y="2209998"/>
            <a:ext cx="3522773" cy="41388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60250" y="2386608"/>
            <a:ext cx="309336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Configurando o Ambiente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260250" y="2722959"/>
            <a:ext cx="309336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Boas práticas de ambiente isolado são essenciais: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60250" y="3305572"/>
            <a:ext cx="3093365" cy="2774553"/>
          </a:xfrm>
          <a:prstGeom prst="rect">
            <a:avLst/>
          </a:prstGeom>
          <a:noFill/>
          <a:ln/>
        </p:spPr>
        <p:txBody>
          <a:bodyPr wrap="square" lIns="0" tIns="63055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Crie um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ambiente virtual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Ative-o: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(Linux/Mac) ou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(Windows)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Instale o Flask: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com: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flask run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 de desenvolvimento roda em </a:t>
            </a:r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859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Passo a Passo — Criando sua Primeira API com Flask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893663"/>
            <a:ext cx="11478330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Agora vamos transformar a teoria em código. Este exemplo mostra como criar uma API RESTful simples com Flask, cobrindo os principais métodos HTTP, códigos de status e retorno de dados em JSON. Siga cada passo com atenção.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61475" y="1053802"/>
            <a:ext cx="197639" cy="197644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694415" y="1070273"/>
            <a:ext cx="131759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5745" y="1083965"/>
            <a:ext cx="33397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Instalar e Estruturar o Projeto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745" y="1249164"/>
            <a:ext cx="33397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Crie a pasta do projeto, o ambiente virtual e instale o Flask. Crie o arquivo 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 raiz.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905745" y="1516955"/>
            <a:ext cx="3339719" cy="1159768"/>
          </a:xfrm>
          <a:prstGeom prst="roundRect">
            <a:avLst>
              <a:gd name="adj" fmla="val 1136"/>
            </a:avLst>
          </a:prstGeom>
          <a:solidFill>
            <a:srgbClr val="EEEFF1"/>
          </a:solidFill>
          <a:ln/>
        </p:spPr>
      </p:sp>
      <p:sp>
        <p:nvSpPr>
          <p:cNvPr id="9" name="Text 7"/>
          <p:cNvSpPr/>
          <p:nvPr/>
        </p:nvSpPr>
        <p:spPr>
          <a:xfrm>
            <a:off x="1011113" y="1604764"/>
            <a:ext cx="3128983" cy="984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aula03-flask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aula03-flask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     # Linux/Mac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venv\Scripts\activate.bat      # Windows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flask-cors         # Para permitir requisições cruzadas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303803" y="1053802"/>
            <a:ext cx="197639" cy="197644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4336743" y="1070273"/>
            <a:ext cx="131759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48074" y="1083965"/>
            <a:ext cx="33397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Criar a Aplicação e Definir Rotas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48074" y="1249164"/>
            <a:ext cx="33397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Escreva o código inicial com rotas para diferentes métodos HTTP. Note como cada decorator 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mapeia um método para uma função Python.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548074" y="1516955"/>
            <a:ext cx="3339719" cy="4815185"/>
          </a:xfrm>
          <a:prstGeom prst="roundRect">
            <a:avLst>
              <a:gd name="adj" fmla="val 395"/>
            </a:avLst>
          </a:prstGeom>
          <a:solidFill>
            <a:srgbClr val="EE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4653441" y="1604764"/>
            <a:ext cx="3128983" cy="4639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jsonify, request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flask_cors import CORS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CORS(app)  # Habilita CORS para todas as rotas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 em memória (simulando banco de dados)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 = [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1, "nome": "Alice", "email": "alice@exemplo.com"},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{"id": 2, "nome": "Bob", "email": "bob@exemplo.com"}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@app.route('/api/usuarios', methods=['GET'])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listar_usuarios():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jsonify(usuarios), 200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@app.route('/api/usuarios/&lt;int:id&gt;', methods=['GET'])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obter_usuario(id):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usuario = next((u for u in usuarios if u['id'] == id), None)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usuario: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jsonify(usuario), 200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jsonify({"erro": "Usuario nao encontrado"}), 404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@app.route('/api/usuarios', methods=['POST'])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criar_usuario():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request.get_json()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novo_id = max(u['id'] for u in usuarios) + 1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novo_usuario = {"id": novo_id, **dados}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usuarios.append(novo_usuario)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jsonify(novo_usuario), 201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app.run(debug=True, port=5000)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946132" y="1053802"/>
            <a:ext cx="197639" cy="197644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7979071" y="1070273"/>
            <a:ext cx="131759" cy="1647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90402" y="1083965"/>
            <a:ext cx="3339818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Executar e Testar a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90402" y="1249164"/>
            <a:ext cx="3339818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o servidor rodando, use 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 Postman para testar cada endpoint e observar os códigos de status e cabeçalhos retornados.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8190402" y="1516955"/>
            <a:ext cx="3339818" cy="2003326"/>
          </a:xfrm>
          <a:prstGeom prst="roundRect">
            <a:avLst>
              <a:gd name="adj" fmla="val 658"/>
            </a:avLst>
          </a:prstGeom>
          <a:solidFill>
            <a:srgbClr val="EE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95770" y="1604764"/>
            <a:ext cx="3129083" cy="1827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todos os usuarios (GET)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http://localhost:5000/api/usuarios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Obter um usuario especifico (GET)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http://localhost:5000/api/usuarios/1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Criar um novo usuario (POST)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http://localhost:5000/api/usuarios \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-H "Content-Type: application/json" \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'{"nome": "Carlos", "email": "carlos@exemplo.com"}'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Tentar acessar usuario inexistente (404)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http://localhost:5000/api/usuarios/999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41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Desafio Técnico 02 — Detalhamento e Próximos Passos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42095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Desafio Técnico 02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 a sua oportunidade de consolidar tudo que aprendemos nesta aula. Você vai construir uma API RESTful completa usando Flask, aplicando os conceitos de métodos HTTP, códigos de status, cabeçalhos e arquitetura cliente-servidor. Traga suas dúvidas para a próxima aula!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72180" y="1493937"/>
            <a:ext cx="5461657" cy="3766145"/>
          </a:xfrm>
          <a:prstGeom prst="roundRect">
            <a:avLst>
              <a:gd name="adj" fmla="val 494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696201" y="1586905"/>
            <a:ext cx="5213616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Objetivo do Desafio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6201" y="1879997"/>
            <a:ext cx="5213616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Desenvolver uma API RESTful com Flask que gerencie um recurso de sua escolha (ex: produtos, tarefas, livros). A API deve implementar os cinco métodos HTTP principais e retornar os códigos de status adequados.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96201" y="2493863"/>
            <a:ext cx="5213616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Requisitos Mínimos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6201" y="2786955"/>
            <a:ext cx="5213616" cy="1448792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/recurso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lista todos os itens (200)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/recurso/&lt;id&gt;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retorna um item (200 ou 404)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/recurso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cria um item (201)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 /recurso/&lt;id&gt;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atualiza um item (200 ou 404)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/recurso/&lt;id&gt;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remove um item (204 ou 404)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os retornos em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3F64C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application/json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Tratamento de erros com mensagens descritivas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3502" y="1586905"/>
            <a:ext cx="528306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Entregáveis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3502" y="1879997"/>
            <a:ext cx="5283068" cy="1017389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Repositório Git público (GitHub/GitLab)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Arquivo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 instruções de instalação e uso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Arquivo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 dependências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comentado e organizado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Exemplos de requisições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README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3502" y="2990354"/>
            <a:ext cx="5283068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Bônus (Opcional)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3502" y="3283446"/>
            <a:ext cx="5283068" cy="1017389"/>
          </a:xfrm>
          <a:prstGeom prst="rect">
            <a:avLst/>
          </a:prstGeom>
          <a:noFill/>
          <a:ln/>
        </p:spPr>
        <p:txBody>
          <a:bodyPr wrap="square" lIns="0" tIns="49617" rIns="0" bIns="0" rtlCol="0" anchor="t">
            <a:normAutofit/>
          </a:bodyPr>
          <a:lstStyle/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Validação de dados de entrada (ex: email válido)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Paginação na listagem (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?page=1&amp;limit=10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Filtro por campo (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?nome=Alice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Documentação com Swagger/OpenAPI (Flask-RESTX)</a:t>
            </a:r>
            <a:endParaRPr lang="en-US" sz="950" dirty="0"/>
          </a:p>
          <a:p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unitários com </a:t>
            </a:r>
            <a:pPr algn="l" marL="193040" indent="-193040">
              <a:lnSpc>
                <a:spcPct val="1170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3502" y="4405412"/>
            <a:ext cx="5283068" cy="750094"/>
          </a:xfrm>
          <a:prstGeom prst="roundRect">
            <a:avLst>
              <a:gd name="adj" fmla="val 2481"/>
            </a:avLst>
          </a:prstGeom>
          <a:solidFill>
            <a:srgbClr val="D7DFF4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522" y="4547791"/>
            <a:ext cx="154976" cy="12402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56519" y="4520009"/>
            <a:ext cx="4756031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💡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Dica: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o Postman ou a extensão Thunder Client do VS Code para testar sua API. Documente os testes com screenshots no README para demonstrar o funcionamento.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1475" y="5364659"/>
            <a:ext cx="3560872" cy="1024830"/>
          </a:xfrm>
          <a:prstGeom prst="roundRect">
            <a:avLst>
              <a:gd name="adj" fmla="val 1816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785495" y="5488682"/>
            <a:ext cx="3312831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Revisão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5495" y="5744567"/>
            <a:ext cx="3312831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Revise os slides, o código da aula e a documentação oficial do Flask (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flask.palletsprojects.com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antes de começar.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15312" y="5364659"/>
            <a:ext cx="3560971" cy="1024830"/>
          </a:xfrm>
          <a:prstGeom prst="roundRect">
            <a:avLst>
              <a:gd name="adj" fmla="val 1816"/>
            </a:avLst>
          </a:prstGeom>
          <a:solidFill>
            <a:srgbClr val="E9ECF2"/>
          </a:solidFill>
          <a:ln/>
        </p:spPr>
      </p:sp>
      <p:sp>
        <p:nvSpPr>
          <p:cNvPr id="20" name="Text 17"/>
          <p:cNvSpPr/>
          <p:nvPr/>
        </p:nvSpPr>
        <p:spPr>
          <a:xfrm>
            <a:off x="4439333" y="5488682"/>
            <a:ext cx="3312930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Dúvidas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9333" y="5744567"/>
            <a:ext cx="331293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Traga todas as dúvidas do Desafio 02 para a próxima aula. Questões sobre HTTP, Flask e arquitetura serão respondidas ao vivo.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69249" y="5364659"/>
            <a:ext cx="3560872" cy="1024830"/>
          </a:xfrm>
          <a:prstGeom prst="roundRect">
            <a:avLst>
              <a:gd name="adj" fmla="val 1816"/>
            </a:avLst>
          </a:prstGeom>
          <a:solidFill>
            <a:srgbClr val="E9ECF2"/>
          </a:solidFill>
          <a:ln/>
        </p:spPr>
      </p:sp>
      <p:sp>
        <p:nvSpPr>
          <p:cNvPr id="23" name="Text 20"/>
          <p:cNvSpPr/>
          <p:nvPr/>
        </p:nvSpPr>
        <p:spPr>
          <a:xfrm>
            <a:off x="8093269" y="5488682"/>
            <a:ext cx="3312831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Próxima Aula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3269" y="5744567"/>
            <a:ext cx="3312831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Continuaremos com Flask aprofundado: blueprints, autenticação JWT, integração com banco de dados e deploy na nuvem.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2026-08-24T20:28:56Z</dcterms:created>
  <dcterms:modified xsi:type="dcterms:W3CDTF">2026-08-24T20:28:56Z</dcterms:modified>
</cp:coreProperties>
</file>